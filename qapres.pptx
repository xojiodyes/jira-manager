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Открытие. Пять красных огней — старт гонки. Тезис: я расскажу историю о том, как команда тестирования вышла на уровень Формулы 1 и почему я готов вести её дальше как лид.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 1 — вершина автоспорта: лучшие инженеры, максимальные ставки, максимальная скорость. Наш банк — такая же вершина в финансах. Мое направление: [описать домен/продукты]. Подставить реальные цифры масштаба.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фазы. 1) Я — часть команды из [N] человек. 2) Подразделение в [стране] закрыли, я остался один: выживание и трансформация — что конкретно я поменял. 3) Я возглавил направление тестирования и собрал команду — история успеха. На картинках я — в красном.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из самых сложных поставок: [проект] в трейдинге. Вид из кокпита — мы вели болид на максимальной скорости. Мы первыми внедрили AI в [тестирование/процесс]: что именно сделали, какие были риски, какой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Мои главные принципы в тестировании, как пьедестал: самый важный — в центре. Формулировки — черновик, заменить на свои: 1) Quality is shared — качество общее дело команды; 2) Risk first — сначала тестируем то, что может сильнее всего навредить банку; 3) Automate routine — рутину автоматизируем, люди исследуют. Для каждого — короткий пример из практики.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Паддок — место, где живут все команды. Я построил комьюнити на 500 человек, чтобы дать людям возможность расти. Рассказать: как начиналось, форматы, конкретные истории роста людей.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Финиш. Четыре блока — четыре аргумента: арена, путь, результаты, комьюнити. Закончить просьбой/тезисом: готов вести команду в следующем сезоне на уровне лида.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1 car in a dark pit garage with crew, track and start lights beyond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Chequered strip">    </p:cNvPr>
          <p:cNvPicPr>
            <a:picLocks noChangeAspect="1"/>
          </p:cNvPicPr>
          <p:nvPr/>
        </p:nvPicPr>
        <p:blipFill>
          <a:blip r:embed="rId2"/>
          <a:srcRect l="0" r="0" t="-196" b="-196"/>
          <a:stretch/>
        </p:blipFill>
        <p:spPr>
          <a:xfrm>
            <a:off x="0" y="0"/>
            <a:ext cx="12192000" cy="203200"/>
          </a:xfrm>
          <a:prstGeom prst="rect">
            <a:avLst/>
          </a:prstGeom>
        </p:spPr>
      </p:pic>
      <p:pic>
        <p:nvPicPr>
          <p:cNvPr id="4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1389410"/>
            <a:ext cx="304800" cy="304800"/>
          </a:xfrm>
          <a:prstGeom prst="rect">
            <a:avLst/>
          </a:prstGeom>
        </p:spPr>
      </p:pic>
      <p:pic>
        <p:nvPicPr>
          <p:cNvPr id="5" name="Image 3" descr="ellips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244600" y="1389410"/>
            <a:ext cx="304800" cy="304800"/>
          </a:xfrm>
          <a:prstGeom prst="rect">
            <a:avLst/>
          </a:prstGeom>
        </p:spPr>
      </p:pic>
      <p:pic>
        <p:nvPicPr>
          <p:cNvPr id="6" name="Image 4" descr="ellip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76400" y="1389410"/>
            <a:ext cx="304800" cy="304800"/>
          </a:xfrm>
          <a:prstGeom prst="rect">
            <a:avLst/>
          </a:prstGeom>
        </p:spPr>
      </p:pic>
      <p:pic>
        <p:nvPicPr>
          <p:cNvPr id="7" name="Image 5" descr="ellips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108200" y="1389410"/>
            <a:ext cx="304800" cy="304800"/>
          </a:xfrm>
          <a:prstGeom prst="rect">
            <a:avLst/>
          </a:prstGeom>
        </p:spPr>
      </p:pic>
      <p:pic>
        <p:nvPicPr>
          <p:cNvPr id="8" name="Image 6" descr="ellip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2540000" y="1389410"/>
            <a:ext cx="304800" cy="30480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812800" y="1948210"/>
            <a:ext cx="47091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322B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PROMOTION CASE · LEAD TEST MANAGER</a:t>
            </a:r>
            <a:endParaRPr lang="en-US" sz="1200" dirty="0"/>
          </a:p>
        </p:txBody>
      </p:sp>
      <p:sp>
        <p:nvSpPr>
          <p:cNvPr id="10" name="Text 1"/>
          <p:cNvSpPr/>
          <p:nvPr/>
        </p:nvSpPr>
        <p:spPr>
          <a:xfrm>
            <a:off x="812800" y="2415530"/>
            <a:ext cx="470916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LEADING QUALITY AT FULL SPEED</a:t>
            </a:r>
            <a:endParaRPr lang="en-US" sz="6600" dirty="0"/>
          </a:p>
        </p:txBody>
      </p:sp>
      <p:sp>
        <p:nvSpPr>
          <p:cNvPr id="11" name="Text 2"/>
          <p:cNvSpPr/>
          <p:nvPr/>
        </p:nvSpPr>
        <p:spPr>
          <a:xfrm>
            <a:off x="812800" y="5184130"/>
            <a:ext cx="47091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[Your name] · [Department] · [Month 2026]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1 race control room with engineers at screens overlooking the night track">    </p:cNvPr>
          <p:cNvPicPr>
            <a:picLocks noChangeAspect="1"/>
          </p:cNvPicPr>
          <p:nvPr/>
        </p:nvPicPr>
        <p:blipFill>
          <a:blip r:embed="rId1"/>
          <a:srcRect l="0" r="0" t="20" b="20"/>
          <a:stretch/>
        </p:blipFill>
        <p:spPr>
          <a:xfrm>
            <a:off x="5842000" y="1270000"/>
            <a:ext cx="6350000" cy="5289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322B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LAP 01 · THE ARENA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I RACE IN THE TOP LEAGUE OF BANKING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1960811"/>
            <a:ext cx="5166995" cy="848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Formula 1 is where the best engineering, the highest stakes and the fastest pace meet. Our bank is that arena for finance.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5500" y="2986881"/>
            <a:ext cx="0" cy="607020"/>
          </a:xfrm>
          <a:prstGeom prst="line">
            <a:avLst/>
          </a:prstGeom>
          <a:noFill/>
          <a:ln w="25400">
            <a:solidFill>
              <a:srgbClr val="E8322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1400" y="3012281"/>
            <a:ext cx="493153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Scale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41400" y="3337371"/>
            <a:ext cx="493153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[__] clients and [€__] a day flow through the systems we test.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5500" y="3797102"/>
            <a:ext cx="0" cy="838150"/>
          </a:xfrm>
          <a:prstGeom prst="line">
            <a:avLst/>
          </a:prstGeom>
          <a:noFill/>
          <a:ln w="25400">
            <a:solidFill>
              <a:srgbClr val="E832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1400" y="3822502"/>
            <a:ext cx="493153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Zero tolerance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41400" y="4147592"/>
            <a:ext cx="4931537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 regulated domain: one defect can mean fines, outages and lost trust.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5500" y="4838452"/>
            <a:ext cx="0" cy="607020"/>
          </a:xfrm>
          <a:prstGeom prst="line">
            <a:avLst/>
          </a:prstGeom>
          <a:noFill/>
          <a:ln w="25400">
            <a:solidFill>
              <a:srgbClr val="E8322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1400" y="4863852"/>
            <a:ext cx="4931537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3F1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Pace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41400" y="5188942"/>
            <a:ext cx="493153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[__] releases a year, with bank-grade reliability every lap.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D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322B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LAP 02 · THE 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THREE STAGES, ONE RACE, TRANSFORMED ROLE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10011"/>
            <a:ext cx="3418484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1" dirty="0">
                <a:solidFill>
                  <a:srgbClr val="8A8A9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436517" y="1910011"/>
            <a:ext cx="34185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1" dirty="0">
                <a:solidFill>
                  <a:srgbClr val="8A8A9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2023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060283" y="1910011"/>
            <a:ext cx="3418484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1" dirty="0">
                <a:solidFill>
                  <a:srgbClr val="8A8A95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2024-2026</a:t>
            </a:r>
            <a:endParaRPr lang="en-US" sz="3600" dirty="0"/>
          </a:p>
        </p:txBody>
      </p:sp>
      <p:pic>
        <p:nvPicPr>
          <p:cNvPr id="7" name="Image 0" descr="ellip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489101"/>
            <a:ext cx="203200" cy="20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016000" y="2578001"/>
            <a:ext cx="3422650" cy="25400"/>
          </a:xfrm>
          <a:prstGeom prst="rect">
            <a:avLst/>
          </a:prstGeom>
          <a:solidFill>
            <a:srgbClr val="4A4A55"/>
          </a:solidFill>
          <a:ln/>
        </p:spPr>
      </p:sp>
      <p:pic>
        <p:nvPicPr>
          <p:cNvPr id="9" name="Image 1" descr="ellips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8650" y="2489101"/>
            <a:ext cx="203200" cy="20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41850" y="2578001"/>
            <a:ext cx="3422650" cy="25400"/>
          </a:xfrm>
          <a:prstGeom prst="rect">
            <a:avLst/>
          </a:prstGeom>
          <a:solidFill>
            <a:srgbClr val="4A4A55"/>
          </a:solidFill>
          <a:ln/>
        </p:spPr>
      </p:sp>
      <p:pic>
        <p:nvPicPr>
          <p:cNvPr id="11" name="Image 2" descr="ellip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64500" y="2489101"/>
            <a:ext cx="203200" cy="2032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67700" y="2578001"/>
            <a:ext cx="3111500" cy="25400"/>
          </a:xfrm>
          <a:prstGeom prst="rect">
            <a:avLst/>
          </a:prstGeom>
          <a:solidFill>
            <a:srgbClr val="4A4A55"/>
          </a:solidFill>
          <a:ln/>
        </p:spPr>
      </p:sp>
      <p:pic>
        <p:nvPicPr>
          <p:cNvPr id="13" name="Image 3" descr="Crew of four working on the car, one of them in red">    </p:cNvPr>
          <p:cNvPicPr>
            <a:picLocks noChangeAspect="1"/>
          </p:cNvPicPr>
          <p:nvPr/>
        </p:nvPicPr>
        <p:blipFill>
          <a:blip r:embed="rId4"/>
          <a:srcRect l="-6605" r="-6605" t="0" b="0"/>
          <a:stretch/>
        </p:blipFill>
        <p:spPr>
          <a:xfrm>
            <a:off x="812800" y="2997101"/>
            <a:ext cx="3321050" cy="1651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2800" y="4749701"/>
            <a:ext cx="341848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3F1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Crew member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812800" y="5143401"/>
            <a:ext cx="341848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Joined a QA team of [N] people. Learned the car: systems, processes, people.</a:t>
            </a:r>
            <a:endParaRPr lang="en-US" sz="1400" dirty="0"/>
          </a:p>
        </p:txBody>
      </p:sp>
      <p:pic>
        <p:nvPicPr>
          <p:cNvPr id="16" name="Image 4" descr="One mechanic in red working alone on the car">    </p:cNvPr>
          <p:cNvPicPr>
            <a:picLocks noChangeAspect="1"/>
          </p:cNvPicPr>
          <p:nvPr/>
        </p:nvPicPr>
        <p:blipFill>
          <a:blip r:embed="rId5"/>
          <a:srcRect l="-6605" r="-6605" t="0" b="0"/>
          <a:stretch/>
        </p:blipFill>
        <p:spPr>
          <a:xfrm>
            <a:off x="4436517" y="2997101"/>
            <a:ext cx="3321050" cy="1651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36517" y="4749701"/>
            <a:ext cx="341853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3F1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Solo: survive and transform</a:t>
            </a:r>
            <a:endParaRPr lang="en-US" sz="2000" dirty="0"/>
          </a:p>
        </p:txBody>
      </p:sp>
      <p:sp>
        <p:nvSpPr>
          <p:cNvPr id="18" name="Text 11"/>
          <p:cNvSpPr/>
          <p:nvPr/>
        </p:nvSpPr>
        <p:spPr>
          <a:xfrm>
            <a:off x="4436517" y="5143401"/>
            <a:ext cx="341853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Our unit in [country] was closed. I stayed alone, kept the car on track and rebuilt the approach.</a:t>
            </a:r>
            <a:endParaRPr lang="en-US" sz="1400" dirty="0"/>
          </a:p>
        </p:txBody>
      </p:sp>
      <p:pic>
        <p:nvPicPr>
          <p:cNvPr id="19" name="Image 5" descr="A full crew on the car, led by a person in red with a tablet">    </p:cNvPr>
          <p:cNvPicPr>
            <a:picLocks noChangeAspect="1"/>
          </p:cNvPicPr>
          <p:nvPr/>
        </p:nvPicPr>
        <p:blipFill>
          <a:blip r:embed="rId6"/>
          <a:srcRect l="-6605" r="-6605" t="0" b="0"/>
          <a:stretch/>
        </p:blipFill>
        <p:spPr>
          <a:xfrm>
            <a:off x="8060283" y="2997101"/>
            <a:ext cx="3321050" cy="16510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60283" y="4749701"/>
            <a:ext cx="3418484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2000" b="1" dirty="0">
                <a:solidFill>
                  <a:srgbClr val="F3F1E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Team principal</a:t>
            </a:r>
            <a:endParaRPr lang="en-US" sz="2000" dirty="0"/>
          </a:p>
        </p:txBody>
      </p:sp>
      <p:sp>
        <p:nvSpPr>
          <p:cNvPr id="21" name="Text 13"/>
          <p:cNvSpPr/>
          <p:nvPr/>
        </p:nvSpPr>
        <p:spPr>
          <a:xfrm>
            <a:off x="8060283" y="5143401"/>
            <a:ext cx="341848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Took over the testing function and built a team of [N] across [locations].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river's view from an F1 cockpit at speed, hands on a steering wheel full of controls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5080000" y="1600200"/>
            <a:ext cx="7112000" cy="400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6278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322B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LAP 03 · THE HARDEST RACE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9522968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CUTTING-EDGE DELIVERY IN TRADING</a:t>
            </a:r>
            <a:endParaRPr lang="en-US" sz="4800" dirty="0"/>
          </a:p>
        </p:txBody>
      </p:sp>
      <p:sp>
        <p:nvSpPr>
          <p:cNvPr id="5" name="Shape 2"/>
          <p:cNvSpPr/>
          <p:nvPr/>
        </p:nvSpPr>
        <p:spPr>
          <a:xfrm>
            <a:off x="831850" y="5242768"/>
            <a:ext cx="0" cy="904180"/>
          </a:xfrm>
          <a:prstGeom prst="line">
            <a:avLst/>
          </a:prstGeom>
          <a:noFill/>
          <a:ln w="38100">
            <a:solidFill>
              <a:srgbClr val="E832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4100" y="5268168"/>
            <a:ext cx="7155307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32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WE WERE THE FIRST TO BRING </a:t>
            </a:r>
            <a:endParaRPr lang="en-US" sz="3200" dirty="0"/>
          </a:p>
          <a:p>
            <a:pPr algn="l" indent="0" marL="0">
              <a:lnSpc>
                <a:spcPts val="3360"/>
              </a:lnSpc>
              <a:buNone/>
            </a:pPr>
            <a:r>
              <a:rPr lang="en-US" sz="32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AI INTO [TRADING TESTING]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ree silver trophies on a dark podium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49707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322B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LAP 04 · MY PRINCIPLES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497078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HOW I TEST: MY PODIUM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87400" y="3746500"/>
            <a:ext cx="3492500" cy="2044700"/>
          </a:xfrm>
          <a:custGeom>
            <a:avLst/>
            <a:gdLst/>
            <a:ahLst/>
            <a:cxnLst/>
            <a:rect l="l" t="t" r="r" b="b"/>
            <a:pathLst>
              <a:path w="3492500" h="2044700">
                <a:moveTo>
                  <a:pt x="101600" y="0"/>
                </a:moveTo>
                <a:lnTo>
                  <a:pt x="3390900" y="0"/>
                </a:lnTo>
                <a:arcTo hR="101600" wR="101600" stAng="16200000" swAng="5400000"/>
                <a:lnTo>
                  <a:pt x="3492500" y="2044700"/>
                </a:lnTo>
                <a:lnTo>
                  <a:pt x="0" y="20447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26262F"/>
          </a:solidFill>
          <a:ln/>
        </p:spPr>
      </p:sp>
      <p:sp>
        <p:nvSpPr>
          <p:cNvPr id="6" name="Shape 3"/>
          <p:cNvSpPr/>
          <p:nvPr/>
        </p:nvSpPr>
        <p:spPr>
          <a:xfrm>
            <a:off x="787400" y="3746500"/>
            <a:ext cx="3492500" cy="2044700"/>
          </a:xfrm>
          <a:custGeom>
            <a:avLst/>
            <a:gdLst/>
            <a:ahLst/>
            <a:cxnLst/>
            <a:rect l="l" t="t" r="r" b="b"/>
            <a:pathLst>
              <a:path w="3492500" h="20447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90900" y="0"/>
                </a:lnTo>
                <a:arcTo hR="101600" wR="101600" stAng="16200000" swAng="5400000"/>
                <a:lnTo>
                  <a:pt x="34925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C9CCD3"/>
          </a:solidFill>
          <a:ln/>
        </p:spPr>
      </p:sp>
      <p:sp>
        <p:nvSpPr>
          <p:cNvPr id="7" name="Text 4"/>
          <p:cNvSpPr/>
          <p:nvPr/>
        </p:nvSpPr>
        <p:spPr>
          <a:xfrm>
            <a:off x="1041400" y="3962400"/>
            <a:ext cx="307403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CCD3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41400" y="4368800"/>
            <a:ext cx="3074035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6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RISK FIRST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1041400" y="4766270"/>
            <a:ext cx="30740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Test what can hurt the bank most, first.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18000" y="3384550"/>
            <a:ext cx="3581400" cy="2406650"/>
          </a:xfrm>
          <a:custGeom>
            <a:avLst/>
            <a:gdLst/>
            <a:ahLst/>
            <a:cxnLst/>
            <a:rect l="l" t="t" r="r" b="b"/>
            <a:pathLst>
              <a:path w="3581400" h="2406650">
                <a:moveTo>
                  <a:pt x="101600" y="0"/>
                </a:moveTo>
                <a:lnTo>
                  <a:pt x="3479800" y="0"/>
                </a:lnTo>
                <a:arcTo hR="101600" wR="101600" stAng="16200000" swAng="5400000"/>
                <a:lnTo>
                  <a:pt x="3581400" y="2406650"/>
                </a:lnTo>
                <a:lnTo>
                  <a:pt x="0" y="240665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26262F"/>
          </a:solidFill>
          <a:ln/>
        </p:spPr>
      </p:sp>
      <p:sp>
        <p:nvSpPr>
          <p:cNvPr id="11" name="Shape 8"/>
          <p:cNvSpPr/>
          <p:nvPr/>
        </p:nvSpPr>
        <p:spPr>
          <a:xfrm>
            <a:off x="4318000" y="3384550"/>
            <a:ext cx="3581400" cy="2406650"/>
          </a:xfrm>
          <a:custGeom>
            <a:avLst/>
            <a:gdLst/>
            <a:ahLst/>
            <a:cxnLst/>
            <a:rect l="l" t="t" r="r" b="b"/>
            <a:pathLst>
              <a:path w="3581400" h="240665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479800" y="0"/>
                </a:lnTo>
                <a:arcTo hR="101600" wR="101600" stAng="16200000" swAng="5400000"/>
                <a:lnTo>
                  <a:pt x="35814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F5B700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3600450"/>
            <a:ext cx="316560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B70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572000" y="4006850"/>
            <a:ext cx="316560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6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QUALITY IS SHARED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72000" y="4404320"/>
            <a:ext cx="316560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Quality is everyone's job; testers enable the whole team.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937500" y="3924300"/>
            <a:ext cx="3454400" cy="1866900"/>
          </a:xfrm>
          <a:custGeom>
            <a:avLst/>
            <a:gdLst/>
            <a:ahLst/>
            <a:cxnLst/>
            <a:rect l="l" t="t" r="r" b="b"/>
            <a:pathLst>
              <a:path w="3454400" h="1866900">
                <a:moveTo>
                  <a:pt x="101600" y="0"/>
                </a:moveTo>
                <a:lnTo>
                  <a:pt x="3352800" y="0"/>
                </a:lnTo>
                <a:arcTo hR="101600" wR="101600" stAng="16200000" swAng="5400000"/>
                <a:lnTo>
                  <a:pt x="3454400" y="1866900"/>
                </a:lnTo>
                <a:lnTo>
                  <a:pt x="0" y="1866900"/>
                </a:lnTo>
                <a:lnTo>
                  <a:pt x="0" y="101600"/>
                </a:lnTo>
                <a:arcTo hR="101600" wR="101600" stAng="10800000" swAng="5400000"/>
                <a:close/>
              </a:path>
            </a:pathLst>
          </a:custGeom>
          <a:solidFill>
            <a:srgbClr val="26262F"/>
          </a:solidFill>
          <a:ln/>
        </p:spPr>
      </p:sp>
      <p:sp>
        <p:nvSpPr>
          <p:cNvPr id="16" name="Shape 13"/>
          <p:cNvSpPr/>
          <p:nvPr/>
        </p:nvSpPr>
        <p:spPr>
          <a:xfrm>
            <a:off x="7937500" y="3924300"/>
            <a:ext cx="3454400" cy="1866900"/>
          </a:xfrm>
          <a:custGeom>
            <a:avLst/>
            <a:gdLst/>
            <a:ahLst/>
            <a:cxnLst/>
            <a:rect l="l" t="t" r="r" b="b"/>
            <a:pathLst>
              <a:path w="3454400" h="186690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3352800" y="0"/>
                </a:lnTo>
                <a:arcTo hR="101600" wR="101600" stAng="16200000" swAng="5400000"/>
                <a:lnTo>
                  <a:pt x="34544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C98A4B"/>
          </a:solidFill>
          <a:ln/>
        </p:spPr>
      </p:sp>
      <p:sp>
        <p:nvSpPr>
          <p:cNvPr id="17" name="Text 14"/>
          <p:cNvSpPr/>
          <p:nvPr/>
        </p:nvSpPr>
        <p:spPr>
          <a:xfrm>
            <a:off x="8191500" y="4140200"/>
            <a:ext cx="30347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98A4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191500" y="4546600"/>
            <a:ext cx="3034792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6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AUTOMATE ROUTINE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191500" y="4944070"/>
            <a:ext cx="30347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A3A3AD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Machines repeat, people explore.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 busy F1 team factory floor full of engineers working together">    </p:cNvPr>
          <p:cNvPicPr>
            <a:picLocks noChangeAspect="1"/>
          </p:cNvPicPr>
          <p:nvPr/>
        </p:nvPicPr>
        <p:blipFill>
          <a:blip r:embed="rId1"/>
          <a:srcRect l="0" r="0" t="27" b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53632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322B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LAP 05 · THE PADDOCK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5363210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1" dirty="0">
                <a:solidFill>
                  <a:srgbClr val="F6F3EE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HOME FOR EVERY TEAM MEMBER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12800" y="2362101"/>
            <a:ext cx="536321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9000" b="1" i="1" dirty="0">
                <a:solidFill>
                  <a:srgbClr val="E832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500</a:t>
            </a:r>
            <a:endParaRPr lang="en-US" sz="9000" dirty="0"/>
          </a:p>
        </p:txBody>
      </p:sp>
      <p:sp>
        <p:nvSpPr>
          <p:cNvPr id="6" name="Text 3"/>
          <p:cNvSpPr/>
          <p:nvPr/>
        </p:nvSpPr>
        <p:spPr>
          <a:xfrm>
            <a:off x="812800" y="3530501"/>
            <a:ext cx="536321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3E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people in the testing community I built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5500" y="4028331"/>
            <a:ext cx="0" cy="256530"/>
          </a:xfrm>
          <a:prstGeom prst="line">
            <a:avLst/>
          </a:prstGeom>
          <a:noFill/>
          <a:ln w="25400">
            <a:solidFill>
              <a:srgbClr val="E832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90600" y="4041031"/>
            <a:ext cx="478764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Why</a:t>
            </a:r>
            <a:r>
              <a:rPr lang="en-US" sz="1400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 · Give testers across the bank room to learn and grow.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5500" y="4386461"/>
            <a:ext cx="0" cy="256530"/>
          </a:xfrm>
          <a:prstGeom prst="line">
            <a:avLst/>
          </a:prstGeom>
          <a:noFill/>
          <a:ln w="25400">
            <a:solidFill>
              <a:srgbClr val="E832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90600" y="4399161"/>
            <a:ext cx="478764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How</a:t>
            </a:r>
            <a:r>
              <a:rPr lang="en-US" sz="1400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 · [Meetups, guilds, talks, mentoring, knowledge base]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25500" y="4744591"/>
            <a:ext cx="0" cy="256530"/>
          </a:xfrm>
          <a:prstGeom prst="line">
            <a:avLst/>
          </a:prstGeom>
          <a:noFill/>
          <a:ln w="25400">
            <a:solidFill>
              <a:srgbClr val="E8322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90600" y="4757291"/>
            <a:ext cx="478764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Impact</a:t>
            </a:r>
            <a:r>
              <a:rPr lang="en-US" sz="1400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 · [__] sessions held, [__] people grew into new roles.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equered strip">    </p:cNvPr>
          <p:cNvPicPr>
            <a:picLocks noChangeAspect="1"/>
          </p:cNvPicPr>
          <p:nvPr/>
        </p:nvPicPr>
        <p:blipFill>
          <a:blip r:embed="rId1"/>
          <a:srcRect l="0" r="0" t="-196" b="-196"/>
          <a:stretch/>
        </p:blipFill>
        <p:spPr>
          <a:xfrm>
            <a:off x="0" y="0"/>
            <a:ext cx="12192000" cy="20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E8322B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CHEQUERED FLAG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1023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1" dirty="0">
                <a:solidFill>
                  <a:srgbClr val="F3F1EC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ЕЦДФ ХИАР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812800" y="1960811"/>
            <a:ext cx="5181600" cy="1838970"/>
          </a:xfrm>
          <a:prstGeom prst="roundRect">
            <a:avLst>
              <a:gd name="adj" fmla="val 5525"/>
            </a:avLst>
          </a:prstGeom>
          <a:solidFill>
            <a:srgbClr val="1F1F27"/>
          </a:solidFill>
          <a:ln/>
        </p:spPr>
      </p:sp>
      <p:sp>
        <p:nvSpPr>
          <p:cNvPr id="6" name="Shape 3"/>
          <p:cNvSpPr/>
          <p:nvPr/>
        </p:nvSpPr>
        <p:spPr>
          <a:xfrm>
            <a:off x="812800" y="1960811"/>
            <a:ext cx="5181600" cy="1838970"/>
          </a:xfrm>
          <a:custGeom>
            <a:avLst/>
            <a:gdLst/>
            <a:ahLst/>
            <a:cxnLst/>
            <a:rect l="l" t="t" r="r" b="b"/>
            <a:pathLst>
              <a:path w="5181600" h="183897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322B"/>
          </a:solidFill>
          <a:ln/>
        </p:spPr>
      </p:sp>
      <p:sp>
        <p:nvSpPr>
          <p:cNvPr id="7" name="Text 4"/>
          <p:cNvSpPr/>
          <p:nvPr/>
        </p:nvSpPr>
        <p:spPr>
          <a:xfrm>
            <a:off x="1066800" y="2252911"/>
            <a:ext cx="48138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832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01 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66800" y="2684711"/>
            <a:ext cx="481380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 deliver quality where the stakes are highest: [domain] at [Bank].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7600" y="1960811"/>
            <a:ext cx="5181600" cy="1838970"/>
          </a:xfrm>
          <a:prstGeom prst="roundRect">
            <a:avLst>
              <a:gd name="adj" fmla="val 5525"/>
            </a:avLst>
          </a:prstGeom>
          <a:solidFill>
            <a:srgbClr val="1F1F27"/>
          </a:solidFill>
          <a:ln/>
        </p:spPr>
      </p:sp>
      <p:sp>
        <p:nvSpPr>
          <p:cNvPr id="10" name="Shape 7"/>
          <p:cNvSpPr/>
          <p:nvPr/>
        </p:nvSpPr>
        <p:spPr>
          <a:xfrm>
            <a:off x="6197600" y="1960811"/>
            <a:ext cx="5181600" cy="1838970"/>
          </a:xfrm>
          <a:custGeom>
            <a:avLst/>
            <a:gdLst/>
            <a:ahLst/>
            <a:cxnLst/>
            <a:rect l="l" t="t" r="r" b="b"/>
            <a:pathLst>
              <a:path w="5181600" h="183897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322B"/>
          </a:solidFill>
          <a:ln/>
        </p:spPr>
      </p:sp>
      <p:sp>
        <p:nvSpPr>
          <p:cNvPr id="11" name="Text 8"/>
          <p:cNvSpPr/>
          <p:nvPr/>
        </p:nvSpPr>
        <p:spPr>
          <a:xfrm>
            <a:off x="6451600" y="2252911"/>
            <a:ext cx="48138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832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02 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51600" y="2684711"/>
            <a:ext cx="481380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From team member, through a solo stint, to building and leading a team of [N].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2800" y="4002980"/>
            <a:ext cx="5181600" cy="1839020"/>
          </a:xfrm>
          <a:prstGeom prst="roundRect">
            <a:avLst>
              <a:gd name="adj" fmla="val 5525"/>
            </a:avLst>
          </a:prstGeom>
          <a:solidFill>
            <a:srgbClr val="1F1F27"/>
          </a:solidFill>
          <a:ln/>
        </p:spPr>
      </p:sp>
      <p:sp>
        <p:nvSpPr>
          <p:cNvPr id="14" name="Shape 11"/>
          <p:cNvSpPr/>
          <p:nvPr/>
        </p:nvSpPr>
        <p:spPr>
          <a:xfrm>
            <a:off x="812800" y="4002980"/>
            <a:ext cx="5181600" cy="1839020"/>
          </a:xfrm>
          <a:custGeom>
            <a:avLst/>
            <a:gdLst/>
            <a:ahLst/>
            <a:cxnLst/>
            <a:rect l="l" t="t" r="r" b="b"/>
            <a:pathLst>
              <a:path w="5181600" h="18390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322B"/>
          </a:solidFill>
          <a:ln/>
        </p:spPr>
      </p:sp>
      <p:sp>
        <p:nvSpPr>
          <p:cNvPr id="15" name="Text 12"/>
          <p:cNvSpPr/>
          <p:nvPr/>
        </p:nvSpPr>
        <p:spPr>
          <a:xfrm>
            <a:off x="1066800" y="4295080"/>
            <a:ext cx="48138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832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066800" y="4726880"/>
            <a:ext cx="481380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[__]% automation, [__]× faster regression, [__] production defects.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197600" y="4002980"/>
            <a:ext cx="5181600" cy="1839020"/>
          </a:xfrm>
          <a:prstGeom prst="roundRect">
            <a:avLst>
              <a:gd name="adj" fmla="val 5525"/>
            </a:avLst>
          </a:prstGeom>
          <a:solidFill>
            <a:srgbClr val="1F1F27"/>
          </a:solidFill>
          <a:ln/>
        </p:spPr>
      </p:sp>
      <p:sp>
        <p:nvSpPr>
          <p:cNvPr id="18" name="Shape 15"/>
          <p:cNvSpPr/>
          <p:nvPr/>
        </p:nvSpPr>
        <p:spPr>
          <a:xfrm>
            <a:off x="6197600" y="4002980"/>
            <a:ext cx="5181600" cy="1839020"/>
          </a:xfrm>
          <a:custGeom>
            <a:avLst/>
            <a:gdLst/>
            <a:ahLst/>
            <a:cxnLst/>
            <a:rect l="l" t="t" r="r" b="b"/>
            <a:pathLst>
              <a:path w="5181600" h="1839020">
                <a:moveTo>
                  <a:pt x="0" y="101600"/>
                </a:moveTo>
                <a:lnTo>
                  <a:pt x="0" y="101600"/>
                </a:lnTo>
                <a:arcTo hR="101600" wR="101600" stAng="10800000" swAng="5400000"/>
                <a:lnTo>
                  <a:pt x="5080000" y="0"/>
                </a:lnTo>
                <a:arcTo hR="101600" wR="101600" stAng="16200000" swAng="5400000"/>
                <a:lnTo>
                  <a:pt x="5181600" y="101600"/>
                </a:lnTo>
                <a:arcTo hR="63500" wR="101600" stAng="0" swAng="-5400000"/>
                <a:lnTo>
                  <a:pt x="101600" y="38100"/>
                </a:lnTo>
                <a:arcTo hR="63500" wR="101600" stAng="16200000" swAng="-5400000"/>
                <a:close/>
              </a:path>
            </a:pathLst>
          </a:custGeom>
          <a:solidFill>
            <a:srgbClr val="E8322B"/>
          </a:solidFill>
          <a:ln/>
        </p:spPr>
      </p:sp>
      <p:sp>
        <p:nvSpPr>
          <p:cNvPr id="19" name="Text 16"/>
          <p:cNvSpPr/>
          <p:nvPr/>
        </p:nvSpPr>
        <p:spPr>
          <a:xfrm>
            <a:off x="6451600" y="4295080"/>
            <a:ext cx="481380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E8322B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04 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451600" y="4726880"/>
            <a:ext cx="481380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D6D4C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 500-person community that helps testers across the bank grow.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 QA Promotion — Formula 1</dc:title>
  <dc:subject>PptxGenJS Presentation</dc:subject>
  <dc:creator>PptxGenJS</dc:creator>
  <cp:lastModifiedBy>PptxGenJS</cp:lastModifiedBy>
  <cp:revision>1</cp:revision>
  <dcterms:created xsi:type="dcterms:W3CDTF">2026-09-30T15:30:20Z</dcterms:created>
  <dcterms:modified xsi:type="dcterms:W3CDTF">2026-09-30T15:30:20Z</dcterms:modified>
</cp:coreProperties>
</file>